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7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36676"/>
            <a:ext cx="200025" cy="3520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12959" y="676656"/>
            <a:ext cx="200025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122998" y="548640"/>
            <a:ext cx="200025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08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EXCELLENCE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Perception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0292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Voice-of-Customer- und Perception-Gap-Analyse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02920" y="4434840"/>
            <a:ext cx="7680960" cy="841248"/>
          </a:xfrm>
          <a:prstGeom prst="rect">
            <a:avLst/>
          </a:prstGeom>
          <a:solidFill>
            <a:srgbClr val="0A4FA0"/>
          </a:solidFill>
          <a:ln w="12700">
            <a:solidFill>
              <a:srgbClr val="0A4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34840"/>
            <a:ext cx="7223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 Analyse zur Bewerbung als Customer Experience Perception Manager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[Dein Name]   ·   16. Juni 2026   ·   Datenbasis: ausschliesslich öffentliche Quellen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 &amp; Vorgehen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5486400" cy="420624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325880"/>
            <a:ext cx="64008" cy="4206240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 Verständnis der Rolle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58952" y="196596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habe diese Analyse als ersten Arbeitsauftrag verstanden: die Kundenzufriedenheit der Allianz Suisse entlang der Customer Journey datenbasiert analysieren, die zentralen Pain Points priorisieren und wirksame Massnahmen mit Wirkungsmessung vorschlagen — beratend und steuernd, gemeinsam mit den Fachbereichen.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3657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58952" y="3950208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i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gross ist die Lücke zwischen dem, was Allianz verspricht — und dem, was Kundinnen und Kunden öffentlich tatsächlich erleben? Und wo lohnt sich Handeln am meisten?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Vorgehen in 5 Schritten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rgbClr val="00378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38074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Erhebung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995160" y="1691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Öffentliche Kundenfeedbacks &amp; Benchmark-Werte sammeln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240280"/>
            <a:ext cx="457200" cy="457200"/>
          </a:xfrm>
          <a:prstGeom prst="ellipse">
            <a:avLst/>
          </a:prstGeom>
          <a:solidFill>
            <a:srgbClr val="0037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22037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Codierung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99516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Feedback nach Thema, Sentiment &amp; Journey-Phase klassifizieren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063240"/>
            <a:ext cx="457200" cy="457200"/>
          </a:xfrm>
          <a:prstGeom prst="ellipse">
            <a:avLst/>
          </a:prstGeom>
          <a:solidFill>
            <a:srgbClr val="00378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95160" y="302666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Priorisierung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995160" y="3337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nach Frequenz × Impact gewichten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886200"/>
            <a:ext cx="457200" cy="457200"/>
          </a:xfrm>
          <a:prstGeom prst="ellipse">
            <a:avLst/>
          </a:prstGeom>
          <a:solidFill>
            <a:srgbClr val="00378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384962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Gap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95160" y="41605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Markenversprechen gegen erlebte Realität spiegeln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709160"/>
            <a:ext cx="457200" cy="457200"/>
          </a:xfrm>
          <a:prstGeom prst="ellipse">
            <a:avLst/>
          </a:prstGeom>
          <a:solidFill>
            <a:srgbClr val="00378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5160" y="467258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Wirkungslogik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95160" y="4983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Zielwert → Wirkungsmessung je Massnahme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Summary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25831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371600"/>
            <a:ext cx="64008" cy="169164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481328"/>
            <a:ext cx="2308860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Silber 5.1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67512" y="2318918"/>
            <a:ext cx="22722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 2025 (Auto &amp; Hausrat) — hinter Mobiliar (Gold 5.3)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0420" y="1371600"/>
            <a:ext cx="25831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60420" y="1371600"/>
            <a:ext cx="64008" cy="1691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9" name="Text 7"/>
          <p:cNvSpPr/>
          <p:nvPr/>
        </p:nvSpPr>
        <p:spPr>
          <a:xfrm>
            <a:off x="3525012" y="1481328"/>
            <a:ext cx="2308860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525012" y="2318918"/>
            <a:ext cx="22722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bonus.ch 2026 Hausrat: letzter Platz; Weiterempfehlung 84 % vs. 96 %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5831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371600"/>
            <a:ext cx="64008" cy="16916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1481328"/>
            <a:ext cx="2308860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 vs. +45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82512" y="2318918"/>
            <a:ext cx="22722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NPS-Rückstand auf Mobiliar (~37 Pkt., Stand 2017–19)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75420" y="1371600"/>
            <a:ext cx="25831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075420" y="1371600"/>
            <a:ext cx="64008" cy="1691640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17" name="Text 15"/>
          <p:cNvSpPr/>
          <p:nvPr/>
        </p:nvSpPr>
        <p:spPr>
          <a:xfrm>
            <a:off x="9240012" y="1481328"/>
            <a:ext cx="2308860" cy="87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Pain Points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40012" y="2318918"/>
            <a:ext cx="22722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repräsentativen UND Beschwerde-Kanälen — das belastbare Signal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383280"/>
            <a:ext cx="11155680" cy="1371600"/>
          </a:xfrm>
          <a:prstGeom prst="rect">
            <a:avLst/>
          </a:prstGeom>
          <a:solidFill>
            <a:srgbClr val="003781"/>
          </a:solidFill>
          <a:ln w="12700">
            <a:solidFill>
              <a:srgbClr val="003781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Kernbotschaft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8404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grösste Chance liegt im «Moment of Truth»: Schadenfall und Erreichbarkeit. Drei Hebel — Schaden-Erlebnis, Erreichbarkeit und transparente Preis-Leistung — schliessen den Perception Gap am wirksamsten und zahlen direkt auf das Konzernziel «Loyalty Leader» ein.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02920" y="4983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Stärke, auf der sich aufbauen lässt:  </a:t>
            </a:r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persönliche Beratung wird wiederholt gelobt — der Bruch entsteht im Service- und Schadenprozess.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Datenbasis &amp; Methodik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07899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klar getrennte Wahrnehmungs-Ebenen — das Signal liegt in der Schnittmenge.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5440680" cy="566928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A — Repräsentative Befragungen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 (~4'500) · bonus.ch (~1'600/Sparte) · checkall (&gt;5'400)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Branchenmonitor 2025 · moneyland/Ipsos 2025 · Bain NPS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faires Bild: solide, aber durchgehend hinter Mobiliar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4406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508760"/>
            <a:ext cx="5440680" cy="566928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5087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Ebene B — Unaufgeforderte Kanäle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22402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Trustpilot (~239) · Foren · App-Store-Recherche</a:t>
            </a:r>
            <a:endParaRPr lang="en-US" sz="1250" dirty="0"/>
          </a:p>
          <a:p>
            <a:pPr marL="342900" indent="-3429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Selbstselektiv &amp; negativ verzerrt — NICHT repräsentativ</a:t>
            </a:r>
            <a:endParaRPr lang="en-US" sz="1250" dirty="0"/>
          </a:p>
          <a:p>
            <a:pPr indent="0" marL="0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zeigt konzentriert, WO Kunden enttäuscht werden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983480"/>
            <a:ext cx="11155680" cy="96012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Transparenz: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internen Allianz-Daten — öffentliche Befragungen dienen als Proxy/Hypothese, intern zu validieren. Bain-NPS-Werte Stand 2017–19. comparis/Trustpilot blockieren Direktabruf; Kernzahlen wurden über Drittquellen gegengeprüft.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Allianz heute steht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07899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Kundenzufriedenheit im Wettbewerb — Allianz konsistent hinter Marktführer Mobiliar.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Autoversicherung — comparis 2025  (Skala 1–6)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Mobiliar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03120" y="2276856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2276856"/>
            <a:ext cx="2584704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9" name="Text 7"/>
          <p:cNvSpPr/>
          <p:nvPr/>
        </p:nvSpPr>
        <p:spPr>
          <a:xfrm>
            <a:off x="5084064" y="2240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770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Vaudoise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03120" y="2807208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103120" y="2807208"/>
            <a:ext cx="2535936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13" name="Text 11"/>
          <p:cNvSpPr/>
          <p:nvPr/>
        </p:nvSpPr>
        <p:spPr>
          <a:xfrm>
            <a:off x="5084064" y="27706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0098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03120" y="3337560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16" name="Shape 14"/>
          <p:cNvSpPr/>
          <p:nvPr/>
        </p:nvSpPr>
        <p:spPr>
          <a:xfrm>
            <a:off x="2103120" y="3337560"/>
            <a:ext cx="2535936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17" name="Text 15"/>
          <p:cNvSpPr/>
          <p:nvPr/>
        </p:nvSpPr>
        <p:spPr>
          <a:xfrm>
            <a:off x="5084064" y="330098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3831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Zurich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103120" y="3867912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20" name="Shape 18"/>
          <p:cNvSpPr/>
          <p:nvPr/>
        </p:nvSpPr>
        <p:spPr>
          <a:xfrm>
            <a:off x="2103120" y="3867912"/>
            <a:ext cx="2487168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21" name="Text 19"/>
          <p:cNvSpPr/>
          <p:nvPr/>
        </p:nvSpPr>
        <p:spPr>
          <a:xfrm>
            <a:off x="5084064" y="38313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43616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03120" y="4398264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24" name="Shape 22"/>
          <p:cNvSpPr/>
          <p:nvPr/>
        </p:nvSpPr>
        <p:spPr>
          <a:xfrm>
            <a:off x="2103120" y="4398264"/>
            <a:ext cx="2487168" cy="201168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25" name="Text 23"/>
          <p:cNvSpPr/>
          <p:nvPr/>
        </p:nvSpPr>
        <p:spPr>
          <a:xfrm>
            <a:off x="5084064" y="4361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4892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103120" y="4928616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28" name="Shape 26"/>
          <p:cNvSpPr/>
          <p:nvPr/>
        </p:nvSpPr>
        <p:spPr>
          <a:xfrm>
            <a:off x="2103120" y="4928616"/>
            <a:ext cx="2487168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29" name="Text 27"/>
          <p:cNvSpPr/>
          <p:nvPr/>
        </p:nvSpPr>
        <p:spPr>
          <a:xfrm>
            <a:off x="5084064" y="4892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1554480"/>
            <a:ext cx="544068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4652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Hausrat/Haftpflicht — bonus.ch 2026  (Skala 1–6)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4652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Mobiliar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818120" y="2276856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34" name="Shape 32"/>
          <p:cNvSpPr/>
          <p:nvPr/>
        </p:nvSpPr>
        <p:spPr>
          <a:xfrm>
            <a:off x="7818120" y="2276856"/>
            <a:ext cx="2682240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35" name="Text 33"/>
          <p:cNvSpPr/>
          <p:nvPr/>
        </p:nvSpPr>
        <p:spPr>
          <a:xfrm>
            <a:off x="10799064" y="2240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46520" y="26426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Vaudoise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818120" y="2679192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38" name="Shape 36"/>
          <p:cNvSpPr/>
          <p:nvPr/>
        </p:nvSpPr>
        <p:spPr>
          <a:xfrm>
            <a:off x="7818120" y="2679192"/>
            <a:ext cx="2633472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39" name="Text 37"/>
          <p:cNvSpPr/>
          <p:nvPr/>
        </p:nvSpPr>
        <p:spPr>
          <a:xfrm>
            <a:off x="10799064" y="264261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46520" y="3044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Helvetia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818120" y="3081528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42" name="Shape 40"/>
          <p:cNvSpPr/>
          <p:nvPr/>
        </p:nvSpPr>
        <p:spPr>
          <a:xfrm>
            <a:off x="7818120" y="3081528"/>
            <a:ext cx="2584704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43" name="Text 41"/>
          <p:cNvSpPr/>
          <p:nvPr/>
        </p:nvSpPr>
        <p:spPr>
          <a:xfrm>
            <a:off x="10799064" y="304495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46520" y="344728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818120" y="3483864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46" name="Shape 44"/>
          <p:cNvSpPr/>
          <p:nvPr/>
        </p:nvSpPr>
        <p:spPr>
          <a:xfrm>
            <a:off x="7818120" y="3483864"/>
            <a:ext cx="2535936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47" name="Text 45"/>
          <p:cNvSpPr/>
          <p:nvPr/>
        </p:nvSpPr>
        <p:spPr>
          <a:xfrm>
            <a:off x="10799064" y="34472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446520" y="384962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Zurich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818120" y="3886200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50" name="Shape 48"/>
          <p:cNvSpPr/>
          <p:nvPr/>
        </p:nvSpPr>
        <p:spPr>
          <a:xfrm>
            <a:off x="7818120" y="3886200"/>
            <a:ext cx="2535936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51" name="Text 49"/>
          <p:cNvSpPr/>
          <p:nvPr/>
        </p:nvSpPr>
        <p:spPr>
          <a:xfrm>
            <a:off x="10799064" y="384962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4652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818120" y="4288536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54" name="Shape 52"/>
          <p:cNvSpPr/>
          <p:nvPr/>
        </p:nvSpPr>
        <p:spPr>
          <a:xfrm>
            <a:off x="7818120" y="4288536"/>
            <a:ext cx="2535936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55" name="Text 53"/>
          <p:cNvSpPr/>
          <p:nvPr/>
        </p:nvSpPr>
        <p:spPr>
          <a:xfrm>
            <a:off x="10799064" y="42519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446520" y="465429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818120" y="4690872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58" name="Shape 56"/>
          <p:cNvSpPr/>
          <p:nvPr/>
        </p:nvSpPr>
        <p:spPr>
          <a:xfrm>
            <a:off x="7818120" y="4690872"/>
            <a:ext cx="2535936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59" name="Text 57"/>
          <p:cNvSpPr/>
          <p:nvPr/>
        </p:nvSpPr>
        <p:spPr>
          <a:xfrm>
            <a:off x="10799064" y="46542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446520" y="5056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818120" y="5093208"/>
            <a:ext cx="29260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62" name="Shape 60"/>
          <p:cNvSpPr/>
          <p:nvPr/>
        </p:nvSpPr>
        <p:spPr>
          <a:xfrm>
            <a:off x="7818120" y="5093208"/>
            <a:ext cx="2487168" cy="2011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3" name="Text 61"/>
          <p:cNvSpPr/>
          <p:nvPr/>
        </p:nvSpPr>
        <p:spPr>
          <a:xfrm>
            <a:off x="10799064" y="50566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446520" y="56509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Allianz: letzter Platz (11/11), 0.4 Pkt. hinter Mobiliar (5.5).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Loyalität: der grösste Abstand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6492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554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  ·  Bain / HZ Insurance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4920" y="15727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2017–19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Mobiliar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51760" y="2322576"/>
            <a:ext cx="33832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8" name="Shape 6"/>
          <p:cNvSpPr/>
          <p:nvPr/>
        </p:nvSpPr>
        <p:spPr>
          <a:xfrm>
            <a:off x="2651760" y="2322576"/>
            <a:ext cx="3044952" cy="2011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6089904" y="22860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Branchenschnitt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51760" y="3191256"/>
            <a:ext cx="33832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12" name="Shape 10"/>
          <p:cNvSpPr/>
          <p:nvPr/>
        </p:nvSpPr>
        <p:spPr>
          <a:xfrm>
            <a:off x="2651760" y="3191256"/>
            <a:ext cx="1217981" cy="20116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13" name="Text 11"/>
          <p:cNvSpPr/>
          <p:nvPr/>
        </p:nvSpPr>
        <p:spPr>
          <a:xfrm>
            <a:off x="6089904" y="3154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51760" y="4059936"/>
            <a:ext cx="3383280" cy="201168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16" name="Shape 14"/>
          <p:cNvSpPr/>
          <p:nvPr/>
        </p:nvSpPr>
        <p:spPr>
          <a:xfrm>
            <a:off x="2651760" y="4059936"/>
            <a:ext cx="541325" cy="2011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6089904" y="40233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liegt unter dem Branchenschnitt (+18) — ~37 NPS-Punkte hinter Mobiliar.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1417320"/>
            <a:ext cx="4343400" cy="429768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Weiterempfehlung  ·  bonus.ch 2026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43800" y="2194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96 %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754380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43800" y="3383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84 %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754380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— niedrigste Rate im Hausrat-Ranking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43800" y="5074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Konzernziel: «Loyalty Leader» 75 %+ (2027)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Trustpilot-Signal — ehrlich eingeordnet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4297680" cy="4206240"/>
          </a:xfrm>
          <a:prstGeom prst="rect">
            <a:avLst/>
          </a:prstGeom>
          <a:solidFill>
            <a:srgbClr val="003781"/>
          </a:solidFill>
          <a:ln w="12700">
            <a:solidFill>
              <a:srgbClr val="003781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9202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/ 5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~239 Reviews · ~86 % 1-Stern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749040" cy="1828800"/>
          </a:xfrm>
          <a:prstGeom prst="rect">
            <a:avLst/>
          </a:prstGeom>
          <a:solidFill>
            <a:srgbClr val="0A4FA0"/>
          </a:solidFill>
          <a:ln w="12700">
            <a:solidFill>
              <a:srgbClr val="0A4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70332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unaufgefordert &amp; selbstselektiv → NICHT repräsentativ für die Gesamtkundenbasis. Aber das Bild ist eindeutig — und es deckt sich mit den repräsentativen Schwächen.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166360" y="1463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Worauf sich die Kritik konzentriert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66360" y="1965960"/>
            <a:ext cx="6446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66360" y="1965960"/>
            <a:ext cx="64008" cy="7132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5349240" y="203911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Schadenfall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0" y="203911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Verzögerung, fragwürdige Ablehnung, ausbleibende Auszahlung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66360" y="2807208"/>
            <a:ext cx="6446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66360" y="2807208"/>
            <a:ext cx="64008" cy="7132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Erreichbarkeit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0" y="28803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Endlose Warteschlangen, unbeantwortete E-Mails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66360" y="3648456"/>
            <a:ext cx="6446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66360" y="3648456"/>
            <a:ext cx="64008" cy="7132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9" name="Text 17"/>
          <p:cNvSpPr/>
          <p:nvPr/>
        </p:nvSpPr>
        <p:spPr>
          <a:xfrm>
            <a:off x="5349240" y="37216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Preis-Leistung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0" y="37216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Prämienerhöhungen als unverhältnismässig empfunden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166360" y="4489704"/>
            <a:ext cx="6446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66360" y="4489704"/>
            <a:ext cx="64008" cy="713232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456285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Digitalisierung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315200" y="45628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«…wie im Mittelalter per Post» — schwaches Self-Service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166360" y="5330952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«Der Sachbearbeiter sagte immer wieder, dass die Allianz nicht zahle.»  ·  «Stundenlang in der Warteschlaufe.»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 — wo die Pain Points sitzen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07899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Einfärbung nach Pain-Point-Schwere (Frequenz × Impact). Sterne = «Moment of Truth».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41984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3154680"/>
            <a:ext cx="1141984" cy="155448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" y="3227832"/>
            <a:ext cx="1068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/ Information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54632" y="1783080"/>
            <a:ext cx="1141984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1754632" y="2194560"/>
            <a:ext cx="1141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54632" y="3154680"/>
            <a:ext cx="1141984" cy="155448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1208" y="3227832"/>
            <a:ext cx="1068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Offerte / Beratung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06344" y="1783080"/>
            <a:ext cx="1141984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Shape 10"/>
          <p:cNvSpPr/>
          <p:nvPr/>
        </p:nvSpPr>
        <p:spPr>
          <a:xfrm>
            <a:off x="3006344" y="3154680"/>
            <a:ext cx="1141984" cy="155448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2920" y="3227832"/>
            <a:ext cx="1068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8056" y="1783080"/>
            <a:ext cx="1141984" cy="13716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Shape 13"/>
          <p:cNvSpPr/>
          <p:nvPr/>
        </p:nvSpPr>
        <p:spPr>
          <a:xfrm>
            <a:off x="4258056" y="3154680"/>
            <a:ext cx="1141984" cy="155448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4632" y="3227832"/>
            <a:ext cx="1068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/ Police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09768" y="1783080"/>
            <a:ext cx="1141984" cy="1371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5509768" y="2194560"/>
            <a:ext cx="1141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09768" y="1828800"/>
            <a:ext cx="1141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509768" y="3154680"/>
            <a:ext cx="1141984" cy="155448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46344" y="3227832"/>
            <a:ext cx="1068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Laufender Service / Vertragsänderung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1480" y="1783080"/>
            <a:ext cx="1141984" cy="13716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6761480" y="2194560"/>
            <a:ext cx="1141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61480" y="1828800"/>
            <a:ext cx="1141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1480" y="3154680"/>
            <a:ext cx="1141984" cy="155448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8056" y="3227832"/>
            <a:ext cx="1068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Schadenfall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013192" y="1783080"/>
            <a:ext cx="1141984" cy="13716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8013192" y="2194560"/>
            <a:ext cx="1141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013192" y="3154680"/>
            <a:ext cx="1141984" cy="155448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9768" y="3227832"/>
            <a:ext cx="1068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Prämien / Rechnung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264904" y="1783080"/>
            <a:ext cx="1141984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Text 30"/>
          <p:cNvSpPr/>
          <p:nvPr/>
        </p:nvSpPr>
        <p:spPr>
          <a:xfrm>
            <a:off x="9264904" y="2194560"/>
            <a:ext cx="1141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9264904" y="3154680"/>
            <a:ext cx="1141984" cy="155448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01480" y="3227832"/>
            <a:ext cx="1068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Verlängerung / Kündigung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516616" y="1783080"/>
            <a:ext cx="1141984" cy="1371600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6616" y="2194560"/>
            <a:ext cx="1141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10516616" y="3154680"/>
            <a:ext cx="1141984" cy="155448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53192" y="3227832"/>
            <a:ext cx="10688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/ App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292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Schwere: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417320" y="5056632"/>
            <a:ext cx="228600" cy="20116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1" name="Text 39"/>
          <p:cNvSpPr/>
          <p:nvPr/>
        </p:nvSpPr>
        <p:spPr>
          <a:xfrm>
            <a:off x="1691640" y="5029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0" y="5056632"/>
            <a:ext cx="228600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3" name="Text 41"/>
          <p:cNvSpPr/>
          <p:nvPr/>
        </p:nvSpPr>
        <p:spPr>
          <a:xfrm>
            <a:off x="3017520" y="5029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069080" y="5056632"/>
            <a:ext cx="228600" cy="201168"/>
          </a:xfrm>
          <a:prstGeom prst="rect">
            <a:avLst/>
          </a:prstGeom>
          <a:solidFill>
            <a:srgbClr val="B26A00"/>
          </a:solidFill>
          <a:ln/>
        </p:spPr>
      </p:sp>
      <p:sp>
        <p:nvSpPr>
          <p:cNvPr id="45" name="Text 43"/>
          <p:cNvSpPr/>
          <p:nvPr/>
        </p:nvSpPr>
        <p:spPr>
          <a:xfrm>
            <a:off x="4343400" y="5029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erhöht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394960" y="5056632"/>
            <a:ext cx="228600" cy="201168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7" name="Text 45"/>
          <p:cNvSpPr/>
          <p:nvPr/>
        </p:nvSpPr>
        <p:spPr>
          <a:xfrm>
            <a:off x="5669280" y="5029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20840" y="5056632"/>
            <a:ext cx="228600" cy="20116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9" name="Text 47"/>
          <p:cNvSpPr/>
          <p:nvPr/>
        </p:nvSpPr>
        <p:spPr>
          <a:xfrm>
            <a:off x="6995160" y="5029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kritisch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priorisiert — Impact × Häufigkeit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325880" y="1554480"/>
            <a:ext cx="5212080" cy="393192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1600200"/>
            <a:ext cx="2560320" cy="1920240"/>
          </a:xfrm>
          <a:prstGeom prst="rect">
            <a:avLst/>
          </a:prstGeom>
          <a:solidFill>
            <a:srgbClr val="FBE3E3"/>
          </a:solidFill>
          <a:ln/>
        </p:spPr>
      </p:sp>
      <p:sp>
        <p:nvSpPr>
          <p:cNvPr id="5" name="Text 3"/>
          <p:cNvSpPr/>
          <p:nvPr/>
        </p:nvSpPr>
        <p:spPr>
          <a:xfrm>
            <a:off x="4069080" y="1673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Top-Priorität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 rot="16200000">
            <a:off x="137160" y="3337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55504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Häufigkeit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70448" y="1527048"/>
            <a:ext cx="694944" cy="694944"/>
          </a:xfrm>
          <a:prstGeom prst="ellipse">
            <a:avLst/>
          </a:prstGeom>
          <a:solidFill>
            <a:srgbClr val="C62828">
              <a:alpha val="82000"/>
            </a:srgbClr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0448" y="15270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01538" y="2381098"/>
            <a:ext cx="632765" cy="632765"/>
          </a:xfrm>
          <a:prstGeom prst="ellipse">
            <a:avLst/>
          </a:prstGeom>
          <a:solidFill>
            <a:srgbClr val="2E7D32">
              <a:alpha val="82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01538" y="2381098"/>
            <a:ext cx="632765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83409" y="2405969"/>
            <a:ext cx="583021" cy="583021"/>
          </a:xfrm>
          <a:prstGeom prst="ellipse">
            <a:avLst/>
          </a:prstGeom>
          <a:solidFill>
            <a:srgbClr val="2E7D32">
              <a:alpha val="82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3409" y="2405969"/>
            <a:ext cx="583021" cy="58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65281" y="2430841"/>
            <a:ext cx="533278" cy="533278"/>
          </a:xfrm>
          <a:prstGeom prst="ellipse">
            <a:avLst/>
          </a:prstGeom>
          <a:solidFill>
            <a:srgbClr val="006AB3">
              <a:alpha val="82000"/>
            </a:srgbClr>
          </a:solidFill>
          <a:ln w="19050">
            <a:solidFill>
              <a:srgbClr val="006AB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5281" y="2430841"/>
            <a:ext cx="533278" cy="533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6755" y="3272455"/>
            <a:ext cx="495971" cy="495971"/>
          </a:xfrm>
          <a:prstGeom prst="ellipse">
            <a:avLst/>
          </a:prstGeom>
          <a:solidFill>
            <a:srgbClr val="9AA3B2">
              <a:alpha val="82000"/>
            </a:srgbClr>
          </a:solidFill>
          <a:ln w="19050">
            <a:solidFill>
              <a:srgbClr val="9AA3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6755" y="3272455"/>
            <a:ext cx="495971" cy="495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81115" y="3272455"/>
            <a:ext cx="495971" cy="495971"/>
          </a:xfrm>
          <a:prstGeom prst="ellipse">
            <a:avLst/>
          </a:prstGeom>
          <a:solidFill>
            <a:srgbClr val="2E7D32">
              <a:alpha val="82000"/>
            </a:srgbClr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81115" y="3272455"/>
            <a:ext cx="495971" cy="495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Rangliste (Priorität = F × I)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0" y="1783080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0" y="1783080"/>
            <a:ext cx="64008" cy="56692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78308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62672" y="18379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Schadenfall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881360" y="178308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9440" y="2441448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2441448"/>
            <a:ext cx="64008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/>
          <p:nvPr/>
        </p:nvSpPr>
        <p:spPr>
          <a:xfrm>
            <a:off x="7086600" y="244144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62672" y="249631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Erreichbarkeit &amp; Reaktionszeit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881360" y="244144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49440" y="3099816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49440" y="3099816"/>
            <a:ext cx="64008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7086600" y="309981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662672" y="31546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Preis-Leistung &amp; Prämienerhöhungen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881360" y="309981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49440" y="3758184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9440" y="3758184"/>
            <a:ext cx="64008" cy="566928"/>
          </a:xfrm>
          <a:prstGeom prst="rect">
            <a:avLst/>
          </a:prstGeom>
          <a:solidFill>
            <a:srgbClr val="006AB3"/>
          </a:solidFill>
          <a:ln/>
        </p:spPr>
      </p:sp>
      <p:sp>
        <p:nvSpPr>
          <p:cNvPr id="38" name="Text 36"/>
          <p:cNvSpPr/>
          <p:nvPr/>
        </p:nvSpPr>
        <p:spPr>
          <a:xfrm>
            <a:off x="7086600" y="375818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662672" y="38130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 Einfachheit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881360" y="375818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49440" y="4416552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49440" y="4416552"/>
            <a:ext cx="64008" cy="566928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43" name="Text 41"/>
          <p:cNvSpPr/>
          <p:nvPr/>
        </p:nvSpPr>
        <p:spPr>
          <a:xfrm>
            <a:off x="7086600" y="441655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662672" y="447141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Beratung/Offerte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881360" y="441655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49440" y="5074920"/>
            <a:ext cx="4754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949440" y="5074920"/>
            <a:ext cx="64008" cy="56692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8" name="Text 46"/>
          <p:cNvSpPr/>
          <p:nvPr/>
        </p:nvSpPr>
        <p:spPr>
          <a:xfrm>
            <a:off x="7086600" y="50749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662672" y="512978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Vertragsausstieg &amp; Retention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881360" y="50749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drei grössten Hebel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3505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371600"/>
            <a:ext cx="3505200" cy="868680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44752"/>
            <a:ext cx="313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719072"/>
            <a:ext cx="313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Schadenfall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313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Frequenz </a:t>
            </a:r>
            <a:pPr indent="0" marL="0">
              <a:buNone/>
            </a:pPr>
            <a:r>
              <a:rPr lang="en-US" sz="115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Impact </a:t>
            </a:r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«2 Monate nach dem Unfall mit Vollkasko und 6 Wochen nach Unterschrift habe ich noch immer kein Geld für mein Totalschaden-Auto gesehen.»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617720"/>
            <a:ext cx="31394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70916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Verletzt: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‚Im Schadenfall für Sie da. 7 Tage. 24 Stunden.‘ / ‚Ihr Sicherheitsnetz‘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28160" y="1371600"/>
            <a:ext cx="3505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8160" y="1371600"/>
            <a:ext cx="3505200" cy="868680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13" name="Text 11"/>
          <p:cNvSpPr/>
          <p:nvPr/>
        </p:nvSpPr>
        <p:spPr>
          <a:xfrm>
            <a:off x="4511040" y="1444752"/>
            <a:ext cx="313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11040" y="1719072"/>
            <a:ext cx="313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Erreichbarkeit &amp; Reaktionszeit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11040" y="2377440"/>
            <a:ext cx="313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Frequenz </a:t>
            </a:r>
            <a:pPr indent="0" marL="0">
              <a:buNone/>
            </a:pPr>
            <a:r>
              <a:rPr lang="en-US" sz="115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Impact </a:t>
            </a:r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11040" y="278892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«Endlose Telefonwarteschlange, immer wieder leere Versprechungen.»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11040" y="4617720"/>
            <a:ext cx="31394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11040" y="470916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Verletzt: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‚zuverlässige Partnerin‘ / ‚Sicherheitsnetz‘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53400" y="1371600"/>
            <a:ext cx="3505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53400" y="1371600"/>
            <a:ext cx="3505200" cy="868680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21" name="Text 19"/>
          <p:cNvSpPr/>
          <p:nvPr/>
        </p:nvSpPr>
        <p:spPr>
          <a:xfrm>
            <a:off x="8336280" y="1444752"/>
            <a:ext cx="313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36280" y="1719072"/>
            <a:ext cx="313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Preis-Leistung &amp; Prämienerhöhungen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36280" y="2377440"/>
            <a:ext cx="313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Frequenz </a:t>
            </a:r>
            <a:pPr indent="0" marL="0">
              <a:buNone/>
            </a:pPr>
            <a:r>
              <a:rPr lang="en-US" sz="115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Impact </a:t>
            </a:r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36280" y="2788920"/>
            <a:ext cx="313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«Der Kundendienst erklärte, dass 10% Prämienerhöhung normal seien — bei einer Inflation von nur 2,1%.»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336280" y="4617720"/>
            <a:ext cx="3139440" cy="0"/>
          </a:xfrm>
          <a:prstGeom prst="line">
            <a:avLst/>
          </a:prstGeom>
          <a:noFill/>
          <a:ln w="12700">
            <a:solidFill>
              <a:srgbClr val="D9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6280" y="4709160"/>
            <a:ext cx="313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b="1" i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Verletzt: </a:t>
            </a:r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‚echte Mehrwerte für unsere Kundinnen und Kunden‘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Gap — Versprechen trifft Realität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033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MARKENVERSPRECHEN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63640" y="1033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ERLEBTE REALITÄT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074920" cy="859536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64008" cy="859536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99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Schadenfall / Moment of Truth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65506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‚Im Schadenfall für Sie da. 7 Tage. 24 Stunden.‘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1517904"/>
            <a:ext cx="475488" cy="47548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1517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63640" y="1325880"/>
            <a:ext cx="5394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325880"/>
            <a:ext cx="64008" cy="8595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399032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Häufigstes Beschwerdethema: verzögerte/abgelehnte Schäden, ausbleibende Auszahlung, fehlende Empathie.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304288"/>
            <a:ext cx="5074920" cy="859536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04288"/>
            <a:ext cx="64008" cy="859536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377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Erreichbarkeit / Verlässlichkeit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263347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‚Ihr Sicherheitsnetz‘, ‚zuverlässige Partnerin‘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2496312"/>
            <a:ext cx="475488" cy="47548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63640" y="2304288"/>
            <a:ext cx="5394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2304288"/>
            <a:ext cx="64008" cy="8595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2377440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Warteschlangen, unbeantwortete Mails, nicht eingehaltene Rückrufversprechen.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282696"/>
            <a:ext cx="5074920" cy="859536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282696"/>
            <a:ext cx="64008" cy="859536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355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Einfachheit / Digitalisierung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36118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‚einfache Lösungen und echte Mehrwerte‘; Konzern: ‚Simplicity wins‘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60720" y="3474720"/>
            <a:ext cx="475488" cy="47548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5760720" y="3474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63640" y="3282696"/>
            <a:ext cx="5394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282696"/>
            <a:ext cx="64008" cy="8595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355848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bewertete dedizierte CH-App auffindbar (Mobiliar hat eine); ‚per Post wie im Mittelalter‘.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02920" y="4261104"/>
            <a:ext cx="5074920" cy="859536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4261104"/>
            <a:ext cx="64008" cy="859536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33425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Preis-Leistung / Mehrwert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" y="4590288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‚echte Mehrwerte für unsere Kundinnen und Kunden‘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4453128"/>
            <a:ext cx="475488" cy="475488"/>
          </a:xfrm>
          <a:prstGeom prst="ellipse">
            <a:avLst/>
          </a:prstGeom>
          <a:solidFill>
            <a:srgbClr val="E65100"/>
          </a:solidFill>
          <a:ln/>
        </p:spPr>
      </p:sp>
      <p:sp>
        <p:nvSpPr>
          <p:cNvPr id="37" name="Text 35"/>
          <p:cNvSpPr/>
          <p:nvPr/>
        </p:nvSpPr>
        <p:spPr>
          <a:xfrm>
            <a:off x="5760720" y="4453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263640" y="4261104"/>
            <a:ext cx="5394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63640" y="4261104"/>
            <a:ext cx="64008" cy="859536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4334256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Preis-Leistung ist die plattformübergreifend schwächste Dimension (checkall 4.0; bonus letzter Platz).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5239512"/>
            <a:ext cx="5074920" cy="859536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2920" y="5239512"/>
            <a:ext cx="64008" cy="859536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5312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Kundenloyalität / NPS-Anspruch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" y="556869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0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‚NPS Loyalty Leader‘ (75 %+ bis 2027); ausgezeichnet als ‚Best Customer-Centric Culture‘ 2024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760720" y="5431536"/>
            <a:ext cx="475488" cy="47548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46" name="Text 44"/>
          <p:cNvSpPr/>
          <p:nvPr/>
        </p:nvSpPr>
        <p:spPr>
          <a:xfrm>
            <a:off x="5760720" y="5431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≠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263640" y="5239512"/>
            <a:ext cx="539496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63640" y="5239512"/>
            <a:ext cx="64008" cy="859536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5312664"/>
            <a:ext cx="4983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+8 vs. Mobiliar +45 (~37 Punkte Rückstand, Stand 2017–2019); bonus.ch Weiterempfehlung 84% vs. 96%.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Handlungsempfehlungen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325880"/>
            <a:ext cx="11155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325880"/>
            <a:ext cx="64008" cy="8961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667512" y="1325880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Schaden-Versprechen einlösen: proaktive Status-Kommunikation &amp; Closed Loop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543800" y="1618488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7543800" y="16184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05256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</a:t>
            </a:r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Schaden-CSAT, Schaden-NPS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052560" y="1856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0–12 Monate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295144"/>
            <a:ext cx="11155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295144"/>
            <a:ext cx="64008" cy="8961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295144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2386584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Erreichbarkeit spürbar verbessern (Callback, SLA, KI-Triage)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543800" y="2587752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2587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052560" y="238658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</a:t>
            </a:r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Service, Ø Wartezeit Telefon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52560" y="28254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264408"/>
            <a:ext cx="11155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264408"/>
            <a:ext cx="64008" cy="89611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264408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35584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Prämienanpassungen proaktiv &amp; verständlich erklären (Value statt Preis)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43800" y="3557016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35570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052560" y="3355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</a:t>
            </a:r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nach Prämienkommunikation, Dimension Preis-Leistung (checkall/bonus)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52560" y="37947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0–9 Monate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2920" y="4233672"/>
            <a:ext cx="11155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4233672"/>
            <a:ext cx="64008" cy="896112"/>
          </a:xfrm>
          <a:prstGeom prst="rect">
            <a:avLst/>
          </a:prstGeom>
          <a:solidFill>
            <a:srgbClr val="006AB3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" y="4233672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0160" y="432511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‚Simplicity wins‘ lokal einlösen: dedizierte CH-App &amp; Portal-Ausbau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43800" y="452628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006AB3"/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052560" y="43251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</a:t>
            </a:r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App-/Portal-Adoption, CES Digital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052560" y="47640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6–18 Monate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02920" y="5202936"/>
            <a:ext cx="111556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5202936"/>
            <a:ext cx="64008" cy="896112"/>
          </a:xfrm>
          <a:prstGeom prst="rect">
            <a:avLst/>
          </a:prstGeom>
          <a:solidFill>
            <a:srgbClr val="9AA3B2"/>
          </a:solidFill>
          <a:ln/>
        </p:spPr>
      </p:sp>
      <p:sp>
        <p:nvSpPr>
          <p:cNvPr id="37" name="Text 35"/>
          <p:cNvSpPr/>
          <p:nvPr/>
        </p:nvSpPr>
        <p:spPr>
          <a:xfrm>
            <a:off x="667512" y="5202936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80160" y="5294376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Beratungsqualität &amp; Transparenz: Mis-Selling reduzieren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543800" y="5495544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9AA3B2"/>
          </a:solidFill>
          <a:ln/>
        </p:spPr>
      </p:sp>
      <p:sp>
        <p:nvSpPr>
          <p:cNvPr id="40" name="Text 38"/>
          <p:cNvSpPr/>
          <p:nvPr/>
        </p:nvSpPr>
        <p:spPr>
          <a:xfrm>
            <a:off x="7543800" y="549554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9052560" y="529437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9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</a:t>
            </a:r>
            <a:pPr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 Beratung/Onboarding, Beschwerdequote Beratung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052560" y="5733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3–12 Monate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Quick Wins zuerst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3474720" cy="7772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179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Monate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8836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3474720" cy="320040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587752"/>
            <a:ext cx="146304" cy="14630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923544" y="249631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Erreichbarkeit (Callback, SLA, KI-Triage)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3547872"/>
            <a:ext cx="146304" cy="14630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923544" y="345643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Prämien transparent erklären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474720" cy="777240"/>
          </a:xfrm>
          <a:prstGeom prst="rect">
            <a:avLst/>
          </a:prstGeom>
          <a:solidFill>
            <a:srgbClr val="006AB3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5179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18836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2331720"/>
            <a:ext cx="3474720" cy="320040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26280" y="2587752"/>
            <a:ext cx="146304" cy="146304"/>
          </a:xfrm>
          <a:prstGeom prst="ellipse">
            <a:avLst/>
          </a:prstGeom>
          <a:solidFill>
            <a:srgbClr val="006AB3"/>
          </a:solidFill>
          <a:ln/>
        </p:spPr>
      </p:sp>
      <p:sp>
        <p:nvSpPr>
          <p:cNvPr id="16" name="Text 14"/>
          <p:cNvSpPr/>
          <p:nvPr/>
        </p:nvSpPr>
        <p:spPr>
          <a:xfrm>
            <a:off x="4764024" y="249631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Schaden-Erlebnis &amp; Closed Loop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26280" y="3547872"/>
            <a:ext cx="146304" cy="146304"/>
          </a:xfrm>
          <a:prstGeom prst="ellipse">
            <a:avLst/>
          </a:prstGeom>
          <a:solidFill>
            <a:srgbClr val="006AB3"/>
          </a:solidFill>
          <a:ln/>
        </p:spPr>
      </p:sp>
      <p:sp>
        <p:nvSpPr>
          <p:cNvPr id="18" name="Text 16"/>
          <p:cNvSpPr/>
          <p:nvPr/>
        </p:nvSpPr>
        <p:spPr>
          <a:xfrm>
            <a:off x="4764024" y="345643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Beratungsqualität / Mis-Selling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83880" y="1463040"/>
            <a:ext cx="3474720" cy="777240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15179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Monate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66760" y="188366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3880" y="2331720"/>
            <a:ext cx="3474720" cy="320040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66760" y="2587752"/>
            <a:ext cx="146304" cy="146304"/>
          </a:xfrm>
          <a:prstGeom prst="ellipse">
            <a:avLst/>
          </a:prstGeom>
          <a:solidFill>
            <a:srgbClr val="003781"/>
          </a:solidFill>
          <a:ln/>
        </p:spPr>
      </p:sp>
      <p:sp>
        <p:nvSpPr>
          <p:cNvPr id="24" name="Text 22"/>
          <p:cNvSpPr/>
          <p:nvPr/>
        </p:nvSpPr>
        <p:spPr>
          <a:xfrm>
            <a:off x="8604504" y="249631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Dedizierte CH-App &amp; Portal-Ausbau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66760" y="3547872"/>
            <a:ext cx="146304" cy="146304"/>
          </a:xfrm>
          <a:prstGeom prst="ellipse">
            <a:avLst/>
          </a:prstGeom>
          <a:solidFill>
            <a:srgbClr val="003781"/>
          </a:solidFill>
          <a:ln/>
        </p:spPr>
      </p:sp>
      <p:sp>
        <p:nvSpPr>
          <p:cNvPr id="26" name="Text 24"/>
          <p:cNvSpPr/>
          <p:nvPr/>
        </p:nvSpPr>
        <p:spPr>
          <a:xfrm>
            <a:off x="8604504" y="3456432"/>
            <a:ext cx="2871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Verankerung Kundenkultur &amp; NPS-Steuerung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5715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Sequenzierung nach Aufwand &amp; Wirkung: schnelle, sichtbare Erfolge schaffen Momentum für die strategischen Hebel.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Wirkungsmessung — vom Pain Point zur belegten Wirkung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41732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  <a:effectLst>
            <a:outerShdw sx="100000" sy="100000" kx="0" ky="0" algn="bl" rotWithShape="0" blurRad="88900" dist="38100" dir="8100000">
              <a:srgbClr val="9DB0C8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4088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Kennzahlen-Architektur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04088" y="1993392"/>
            <a:ext cx="3255264" cy="640080"/>
          </a:xfrm>
          <a:prstGeom prst="rect">
            <a:avLst/>
          </a:prstGeom>
          <a:solidFill>
            <a:srgbClr val="00378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93392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relational, Dachmetrik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04088" y="2743200"/>
            <a:ext cx="1572768" cy="594360"/>
          </a:xfrm>
          <a:prstGeom prst="rect">
            <a:avLst/>
          </a:prstGeom>
          <a:solidFill>
            <a:srgbClr val="006AB3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7432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86584" y="2743200"/>
            <a:ext cx="1572768" cy="594360"/>
          </a:xfrm>
          <a:prstGeom prst="rect">
            <a:avLst/>
          </a:prstGeom>
          <a:solidFill>
            <a:srgbClr val="006AB3"/>
          </a:solidFill>
          <a:ln/>
        </p:spPr>
      </p:sp>
      <p:sp>
        <p:nvSpPr>
          <p:cNvPr id="10" name="Text 8"/>
          <p:cNvSpPr/>
          <p:nvPr/>
        </p:nvSpPr>
        <p:spPr>
          <a:xfrm>
            <a:off x="2386584" y="2743200"/>
            <a:ext cx="1572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3429000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transaktional, je Touchpoint (Schaden, Service, Beratung, Digital)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04088" y="4023360"/>
            <a:ext cx="32552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 </a:t>
            </a:r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Inner: Rückruf &lt;48h bei Detraktoren · Outer: systemische Verbesserung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80560" y="13716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Wirkungslogik je Massnahme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80560" y="1783080"/>
            <a:ext cx="420624" cy="420624"/>
          </a:xfrm>
          <a:prstGeom prst="ellipse">
            <a:avLst/>
          </a:prstGeom>
          <a:solidFill>
            <a:srgbClr val="003781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90872" y="2203704"/>
            <a:ext cx="0" cy="329184"/>
          </a:xfrm>
          <a:prstGeom prst="line">
            <a:avLst/>
          </a:prstGeom>
          <a:noFill/>
          <a:ln w="25400">
            <a:solidFill>
              <a:srgbClr val="D9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8013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der Zielmetrik erheben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2532888"/>
            <a:ext cx="420624" cy="420624"/>
          </a:xfrm>
          <a:prstGeom prst="ellipse">
            <a:avLst/>
          </a:prstGeom>
          <a:solidFill>
            <a:srgbClr val="003781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2532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90872" y="2953512"/>
            <a:ext cx="0" cy="329184"/>
          </a:xfrm>
          <a:prstGeom prst="line">
            <a:avLst/>
          </a:prstGeom>
          <a:noFill/>
          <a:ln w="25400">
            <a:solidFill>
              <a:srgbClr val="D9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2551176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Konkreten Zielwert + Horizont definieren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480560" y="3282696"/>
            <a:ext cx="420624" cy="420624"/>
          </a:xfrm>
          <a:prstGeom prst="ellipse">
            <a:avLst/>
          </a:prstGeom>
          <a:solidFill>
            <a:srgbClr val="003781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3282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90872" y="3703320"/>
            <a:ext cx="0" cy="329184"/>
          </a:xfrm>
          <a:prstGeom prst="line">
            <a:avLst/>
          </a:prstGeom>
          <a:noFill/>
          <a:ln w="25400">
            <a:solidFill>
              <a:srgbClr val="D9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30098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Kontrollgruppe / Difference-in-Differences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80560" y="4032504"/>
            <a:ext cx="420624" cy="420624"/>
          </a:xfrm>
          <a:prstGeom prst="ellipse">
            <a:avLst/>
          </a:prstGeom>
          <a:solidFill>
            <a:srgbClr val="003781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90872" y="4453128"/>
            <a:ext cx="0" cy="329184"/>
          </a:xfrm>
          <a:prstGeom prst="line">
            <a:avLst/>
          </a:prstGeom>
          <a:noFill/>
          <a:ln w="25400">
            <a:solidFill>
              <a:srgbClr val="D9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4050792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Zeitreihe statt Punktmessung (Saisonalität)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480560" y="4782312"/>
            <a:ext cx="420624" cy="420624"/>
          </a:xfrm>
          <a:prstGeom prst="ellipse">
            <a:avLst/>
          </a:prstGeom>
          <a:solidFill>
            <a:srgbClr val="003781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4782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74920" y="480060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Verknüpfung mit Geschäfts-KPIs (Retention, Schadenkosten)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480560" y="5577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06A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operationalisiert im beiliegenden Excel-Tracker (Blätter 05 &amp; 06).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7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708660"/>
            <a:ext cx="142875" cy="2514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24376" y="594360"/>
            <a:ext cx="142875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945833" y="502920"/>
            <a:ext cx="142875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430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MEINE ROLLE IM TEAM CUSTOMER EXCELLENCE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ich das in der Rolle steuern würde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2423160"/>
            <a:ext cx="5394960" cy="1325880"/>
          </a:xfrm>
          <a:prstGeom prst="rect">
            <a:avLst/>
          </a:prstGeom>
          <a:solidFill>
            <a:srgbClr val="0A4FA0"/>
          </a:solidFill>
          <a:ln w="12700">
            <a:solidFill>
              <a:srgbClr val="0A4F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697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5877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Beratend &amp; steuernd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9718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7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Fachbereiche mit Daten und Priorisierung befähigen — nicht überstimmen.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423160"/>
            <a:ext cx="5394960" cy="1325880"/>
          </a:xfrm>
          <a:prstGeom prst="rect">
            <a:avLst/>
          </a:prstGeom>
          <a:solidFill>
            <a:srgbClr val="0A4FA0"/>
          </a:solidFill>
          <a:ln w="12700">
            <a:solidFill>
              <a:srgbClr val="0A4F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697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58775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Stimme des Kunden + Zahlen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78040" y="29718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7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Massnahme bekommt Baseline, Zielwert und Wirkungsmessung.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5394960" cy="1325880"/>
          </a:xfrm>
          <a:prstGeom prst="rect">
            <a:avLst/>
          </a:prstGeom>
          <a:solidFill>
            <a:srgbClr val="0A4FA0"/>
          </a:solidFill>
          <a:ln w="12700">
            <a:solidFill>
              <a:srgbClr val="0A4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17320" y="40965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of Truth zuerst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4805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7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Schaden &amp; Erreichbarkeit sind die grössten Loyalitätshebel.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3931920"/>
            <a:ext cx="5394960" cy="1325880"/>
          </a:xfrm>
          <a:prstGeom prst="rect">
            <a:avLst/>
          </a:prstGeom>
          <a:solidFill>
            <a:srgbClr val="0A4FA0"/>
          </a:solidFill>
          <a:ln w="12700">
            <a:solidFill>
              <a:srgbClr val="0A4F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409651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sichtbar machen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78040" y="448056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D7E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Schnelle Erfolge schaffen Momentum für die Kulturveränderung.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Damit «Let's care for tomorrow» genau dort spürbar wird, wo es für Kundinnen und Kunden zählt — im Moment of Truth.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 &amp; Transparenz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 (Auswahl) mit Konfidenz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377440"/>
                <a:gridCol w="12801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Quelle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7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Konfidenz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78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Trustpilot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/ 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comparis.ch Kundenzufriedenheit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5.1 (Silber), Hausrat/…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bonus.ch Zufriedenheitsumfrage 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5.2 (Platz 5/11, = Bra…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checkall.ch Branchenumfrage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 (‚gut‘)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checkall.ch Dimensionsnoten Allianz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Information/Kommunikation/T…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Schweizer Branchenmonitor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Allianz NICHT in Top 5 (kei…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Bain &amp; Company / HZ Insurance — NPS Schweiz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Allianz +8 · Mobiliar +45 ·…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moneyland.ch / Ipsos Zufriedenheitsumfrage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Allianz nicht in publiziert…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mittel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35240" y="1097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Datenlücken &amp; Caveats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635240" y="1481328"/>
            <a:ext cx="3977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bewertete dedizierte Allianz-Suisse-Endkunden-App im CH-App-Store/Play auffindbar (historische ‚myAllianz‘ seit 2019 depubliziert) — eigenständiger Befund (Wettbewerber Mobiliar hat eine).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Reddit/comparis-Forum/X für den Crawler nicht zugänglich — ungefiltertes Social-Feedback unvollständig.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 NPS/CSAT/CES-Werte nicht öffentlich — öffentliche Befragungen dienen als Proxy/Hypothese, intern zu validieren.</a:t>
            </a:r>
            <a:endParaRPr lang="en-US" sz="1000" dirty="0"/>
          </a:p>
          <a:p>
            <a:pPr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Bain-NPS-Einzelwerte stammen aus 2017–2019; bonus.ch-2026- und moneyland-2025-Werte vor finaler Präsentationsnutzung separat gegenprüfen.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5532120"/>
            <a:ext cx="11155680" cy="777240"/>
          </a:xfrm>
          <a:prstGeom prst="rect">
            <a:avLst/>
          </a:prstGeom>
          <a:solidFill>
            <a:srgbClr val="F5F9FD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560527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03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  </a:t>
            </a:r>
            <a:pPr indent="0" marL="0">
              <a:buNone/>
            </a:pPr>
            <a:r>
              <a:rPr lang="en-US" sz="10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auf Basis öffentlich zugänglicher Daten. Kein offizielles Allianz-Dokument. Konstruktive Absicht — Ziel ist die Verbesserung der Kundenzufriedenheit.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Suisse · Customer Experience &amp; Perception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4712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7589520" y="647395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Eigenständiges Bewerbungsprojekt · öffentliche Daten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Allianz Suisse — Customer Experience &amp; Perception</dc:title>
  <dc:subject>PptxGenJS Presentation</dc:subject>
  <dc:creator>Bewerbung CX Perception Manager</dc:creator>
  <cp:lastModifiedBy>Bewerbung CX Perception Manager</cp:lastModifiedBy>
  <cp:revision>1</cp:revision>
  <dcterms:created xsi:type="dcterms:W3CDTF">2026-06-16T16:29:13Z</dcterms:created>
  <dcterms:modified xsi:type="dcterms:W3CDTF">2026-06-16T16:29:13Z</dcterms:modified>
</cp:coreProperties>
</file>